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75DFB"/>
                </a:solidFill>
                <a:latin typeface="Segoe UI"/>
              </a:rPr>
              <a:t>PETITEL · UX WIREFRAME 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C2033"/>
                </a:solidFill>
                <a:latin typeface="Segoe UI"/>
              </a:rPr>
              <a:t>화면설계서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C2033"/>
                </a:solidFill>
                <a:latin typeface="Segoe UI"/>
              </a:rPr>
              <a:t>예약 핵심 플로우 (P0)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8961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B5F76"/>
                </a:solidFill>
                <a:latin typeface="Segoe UI"/>
              </a:rPr>
              <a:t>반려동물 호텔 예약 서비스의 개발 착수 전 와이어프레임. 실제 백엔드 엔티티(User·Pet·Hotel·Room·Reservation)와 현재 프론트엔드 디자인 토큰(Primary #375DFB · Plus Jakarta Sans)을 그대로 반영했습니다.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02920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5B5F76"/>
                </a:solidFill>
                <a:latin typeface="Segoe UI"/>
              </a:rPr>
              <a:t>범위 · P0 화면 6개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50292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5B5F76"/>
                </a:solidFill>
                <a:latin typeface="Segoe UI"/>
              </a:rPr>
              <a:t>기준 · JPA 엔티티 매핑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5029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5B5F76"/>
                </a:solidFill>
                <a:latin typeface="Segoe UI"/>
              </a:rPr>
              <a:t>레이아웃 · 웹 반응형(폭 375 기준)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75DFB"/>
                </a:solidFill>
                <a:latin typeface="Segoe UI"/>
              </a:rPr>
              <a:t>00 ·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033"/>
                </a:solidFill>
                <a:latin typeface="Segoe UI"/>
              </a:rPr>
              <a:t>범례 · 화면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11091672" cy="12801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7335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C2033"/>
                </a:solidFill>
                <a:latin typeface="Segoe UI"/>
              </a:rPr>
              <a:t>플레이스홀더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5F76"/>
                </a:solidFill>
                <a:latin typeface="Segoe UI"/>
              </a:rPr>
              <a:t>이미지·썸네일 등 실제 리소스가 들어갈 자리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6916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67335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C2033"/>
                </a:solidFill>
                <a:latin typeface="Segoe UI"/>
              </a:rPr>
              <a:t>주요 액션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90195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5F76"/>
                </a:solidFill>
                <a:latin typeface="Segoe UI"/>
              </a:rPr>
              <a:t>화면당 하나, Primary 버튼 색상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9903" y="1691640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1" y="167335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C2033"/>
                </a:solidFill>
                <a:latin typeface="Segoe UI"/>
              </a:rPr>
              <a:t>상태 배지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1" y="190195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5F76"/>
                </a:solidFill>
                <a:latin typeface="Segoe UI"/>
              </a:rPr>
              <a:t>예약 상태(PENDING/CONFIRMED 등)를 색으로 구분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0536" y="16916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4584" y="167335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C2033"/>
                </a:solidFill>
                <a:latin typeface="Segoe UI"/>
              </a:rPr>
              <a:t>핀 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190195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5F76"/>
                </a:solidFill>
                <a:latin typeface="Segoe UI"/>
              </a:rPr>
              <a:t>화면 위 번호 = 오른쪽 설명 목록 번호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060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5F76"/>
                </a:solidFill>
                <a:latin typeface="Segoe UI"/>
              </a:rPr>
              <a:t>#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606040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5F76"/>
                </a:solidFill>
                <a:latin typeface="Segoe UI"/>
              </a:rPr>
              <a:t>화면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60604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5F76"/>
                </a:solidFill>
                <a:latin typeface="Segoe UI"/>
              </a:rPr>
              <a:t>우선순위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606040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5F76"/>
                </a:solidFill>
                <a:latin typeface="Segoe UI"/>
              </a:rPr>
              <a:t>상태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606040"/>
            <a:ext cx="4690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5F76"/>
                </a:solidFill>
                <a:latin typeface="Segoe UI"/>
              </a:rPr>
              <a:t>비고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880360"/>
            <a:ext cx="11091672" cy="12801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990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F76"/>
                </a:solidFill>
                <a:latin typeface="Consolas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99008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2033"/>
                </a:solidFill>
                <a:latin typeface="Segoe UI"/>
              </a:rPr>
              <a:t>메인(홈)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0" y="29718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7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375DFB"/>
                </a:solidFill>
                <a:latin typeface="Segoe UI"/>
              </a:rPr>
              <a:t>P0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2971800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8A5A00"/>
                </a:solidFill>
                <a:latin typeface="Segoe UI"/>
              </a:rPr>
              <a:t>부분 구현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990088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5F76"/>
                </a:solidFill>
                <a:latin typeface="Segoe UI"/>
              </a:rPr>
              <a:t>Home.jsx 데스크톱 랜딩 → 반응형 홈으로 정리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374136"/>
            <a:ext cx="11091672" cy="9144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46557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F76"/>
                </a:solidFill>
                <a:latin typeface="Consola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3465576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2033"/>
                </a:solidFill>
                <a:latin typeface="Segoe UI"/>
              </a:rPr>
              <a:t>로그인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0" y="3447288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7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375DFB"/>
                </a:solidFill>
                <a:latin typeface="Segoe UI"/>
              </a:rPr>
              <a:t>P0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6320" y="3447288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8A5A00"/>
                </a:solidFill>
                <a:latin typeface="Segoe UI"/>
              </a:rPr>
              <a:t>부분 구현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465576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5F76"/>
                </a:solidFill>
                <a:latin typeface="Segoe UI"/>
              </a:rPr>
              <a:t>Login.jsx 껍데기만 존재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849624"/>
            <a:ext cx="11091672" cy="9144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9410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F76"/>
                </a:solidFill>
                <a:latin typeface="Consolas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394106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2033"/>
                </a:solidFill>
                <a:latin typeface="Segoe UI"/>
              </a:rPr>
              <a:t>호텔 목록·검색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31920" y="3922776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7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375DFB"/>
                </a:solidFill>
                <a:latin typeface="Segoe UI"/>
              </a:rPr>
              <a:t>P0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3922776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D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136C34"/>
                </a:solidFill>
                <a:latin typeface="Segoe UI"/>
              </a:rPr>
              <a:t>신규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3941064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5F76"/>
                </a:solidFill>
                <a:latin typeface="Segoe UI"/>
              </a:rPr>
              <a:t>Home.jsx 하드코딩 카드 대체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325112"/>
            <a:ext cx="11091672" cy="9144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4165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F76"/>
                </a:solidFill>
                <a:latin typeface="Consolas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441655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2033"/>
                </a:solidFill>
                <a:latin typeface="Segoe UI"/>
              </a:rPr>
              <a:t>호텔 상세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31920" y="4398264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7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375DFB"/>
                </a:solidFill>
                <a:latin typeface="Segoe UI"/>
              </a:rPr>
              <a:t>P0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46320" y="4398264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D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136C34"/>
                </a:solidFill>
                <a:latin typeface="Segoe UI"/>
              </a:rPr>
              <a:t>신규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4416552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5F76"/>
                </a:solidFill>
                <a:latin typeface="Segoe UI"/>
              </a:rPr>
              <a:t>시설·객실·리뷰 통합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800600"/>
            <a:ext cx="11091672" cy="9144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8920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F76"/>
                </a:solidFill>
                <a:latin typeface="Consolas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" y="489204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2033"/>
                </a:solidFill>
                <a:latin typeface="Segoe UI"/>
              </a:rPr>
              <a:t>예약(객실·반려동물)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931920" y="487375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7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375DFB"/>
                </a:solidFill>
                <a:latin typeface="Segoe UI"/>
              </a:rPr>
              <a:t>P0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46320" y="4873752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D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136C34"/>
                </a:solidFill>
                <a:latin typeface="Segoe UI"/>
              </a:rPr>
              <a:t>신규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48920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5F76"/>
                </a:solidFill>
                <a:latin typeface="Segoe UI"/>
              </a:rPr>
              <a:t>reservation_pets 다중 선택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276088"/>
            <a:ext cx="11091672" cy="9144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367527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F76"/>
                </a:solidFill>
                <a:latin typeface="Consolas"/>
              </a:rPr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8720" y="5367527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2033"/>
                </a:solidFill>
                <a:latin typeface="Segoe UI"/>
              </a:rPr>
              <a:t>예약 확인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931920" y="534924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7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375DFB"/>
                </a:solidFill>
                <a:latin typeface="Segoe UI"/>
              </a:rPr>
              <a:t>P0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46320" y="5349240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D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136C34"/>
                </a:solidFill>
                <a:latin typeface="Segoe UI"/>
              </a:rPr>
              <a:t>신규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5367527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5F76"/>
                </a:solidFill>
                <a:latin typeface="Segoe UI"/>
              </a:rPr>
              <a:t>상태 배지 시스템 도입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5751575"/>
            <a:ext cx="11091672" cy="9144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75DFB"/>
                </a:solidFill>
                <a:latin typeface="Segoe UI"/>
              </a:rPr>
              <a:t>01 · 메인(홈)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033"/>
                </a:solidFill>
                <a:latin typeface="Segoe UI"/>
              </a:rPr>
              <a:t>메인(홈)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1556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E7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>
                <a:solidFill>
                  <a:srgbClr val="375DFB"/>
                </a:solidFill>
                <a:latin typeface="Segoe UI"/>
              </a:rPr>
              <a:t>P0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0432" y="1115568"/>
            <a:ext cx="2560320" cy="219456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8A5A00"/>
                </a:solidFill>
                <a:latin typeface="Segoe UI"/>
              </a:rPr>
              <a:t>부분 구현 · Home.jsx 데스크톱 랜딩만 존재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44752"/>
            <a:ext cx="11091672" cy="12801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65176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2651760" cy="310896"/>
          </a:xfrm>
          <a:prstGeom prst="roundRect">
            <a:avLst>
              <a:gd name="adj" fmla="val 28000"/>
            </a:avLst>
          </a:prstGeom>
          <a:solidFill>
            <a:srgbClr val="EE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47088"/>
            <a:ext cx="2651760" cy="155448"/>
          </a:xfrm>
          <a:prstGeom prst="rect">
            <a:avLst/>
          </a:prstGeom>
          <a:solidFill>
            <a:srgbClr val="EE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944" y="1805940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1805940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976" y="1805940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112264"/>
            <a:ext cx="131765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C2033"/>
                </a:solidFill>
                <a:latin typeface="Segoe UI"/>
              </a:rPr>
              <a:t>PETITEL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4306" y="2112264"/>
            <a:ext cx="107807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B5F76"/>
                </a:solidFill>
                <a:latin typeface="Segoe UI"/>
              </a:rPr>
              <a:t>로그인   가입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1965960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2404872"/>
            <a:ext cx="1371600" cy="182880"/>
          </a:xfrm>
          <a:prstGeom prst="roundRect">
            <a:avLst>
              <a:gd name="adj" fmla="val 50000"/>
            </a:avLst>
          </a:prstGeom>
          <a:solidFill>
            <a:srgbClr val="E7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75DFB"/>
                </a:solidFill>
                <a:latin typeface="Segoe UI"/>
              </a:rPr>
              <a:t>PREMIUM PET CARE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2276856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642615"/>
            <a:ext cx="23957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C2033"/>
                </a:solidFill>
                <a:latin typeface="Segoe UI"/>
              </a:rPr>
              <a:t>우리 아이를 위한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C2033"/>
                </a:solidFill>
                <a:latin typeface="Segoe UI"/>
              </a:rPr>
              <a:t>편안한 예약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099815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5B5F76"/>
                </a:solidFill>
                <a:latin typeface="Segoe UI"/>
              </a:rPr>
              <a:t>미용·호텔·데이케어를 쉽고 빠르게 예약하세요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" y="3392423"/>
            <a:ext cx="2395728" cy="530352"/>
          </a:xfrm>
          <a:prstGeom prst="roundRect">
            <a:avLst>
              <a:gd name="adj" fmla="val 12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8640" y="3264407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4032503"/>
            <a:ext cx="2395728" cy="310896"/>
          </a:xfrm>
          <a:prstGeom prst="roundRect">
            <a:avLst>
              <a:gd name="adj" fmla="val 35000"/>
            </a:avLst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예약하러 가기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3886199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453127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2033"/>
                </a:solidFill>
                <a:latin typeface="Segoe UI"/>
              </a:rPr>
              <a:t>맞춤 서비스 카테고리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4325112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" y="4690871"/>
            <a:ext cx="516636" cy="516636"/>
          </a:xfrm>
          <a:prstGeom prst="roundRect">
            <a:avLst>
              <a:gd name="adj" fmla="val 2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5234940"/>
            <a:ext cx="6080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B5F76"/>
                </a:solidFill>
                <a:latin typeface="Segoe UI"/>
              </a:rPr>
              <a:t>미용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03020" y="4690871"/>
            <a:ext cx="516636" cy="516636"/>
          </a:xfrm>
          <a:prstGeom prst="roundRect">
            <a:avLst>
              <a:gd name="adj" fmla="val 2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57300" y="5234940"/>
            <a:ext cx="6080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B5F76"/>
                </a:solidFill>
                <a:latin typeface="Segoe UI"/>
              </a:rPr>
              <a:t>호텔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29384" y="4690871"/>
            <a:ext cx="516636" cy="516636"/>
          </a:xfrm>
          <a:prstGeom prst="roundRect">
            <a:avLst>
              <a:gd name="adj" fmla="val 2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83664" y="5234940"/>
            <a:ext cx="6080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B5F76"/>
                </a:solidFill>
                <a:latin typeface="Segoe UI"/>
              </a:rPr>
              <a:t>데이케어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55748" y="4690871"/>
            <a:ext cx="516636" cy="516636"/>
          </a:xfrm>
          <a:prstGeom prst="roundRect">
            <a:avLst>
              <a:gd name="adj" fmla="val 2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0028" y="5234940"/>
            <a:ext cx="6080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B5F76"/>
                </a:solidFill>
                <a:latin typeface="Segoe UI"/>
              </a:rPr>
              <a:t>건강관리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" y="5257799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2033"/>
                </a:solidFill>
                <a:latin typeface="Segoe UI"/>
              </a:rPr>
              <a:t>추천 펫 샵</a:t>
            </a:r>
          </a:p>
        </p:txBody>
      </p:sp>
      <p:sp>
        <p:nvSpPr>
          <p:cNvPr id="36" name="Oval 35"/>
          <p:cNvSpPr/>
          <p:nvPr/>
        </p:nvSpPr>
        <p:spPr>
          <a:xfrm>
            <a:off x="548640" y="5129783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" y="5477255"/>
            <a:ext cx="2395728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9808" y="5550407"/>
            <a:ext cx="384047" cy="384047"/>
          </a:xfrm>
          <a:prstGeom prst="roundRect">
            <a:avLst>
              <a:gd name="adj" fmla="val 22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25295" y="5568695"/>
            <a:ext cx="17556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2033"/>
                </a:solidFill>
                <a:latin typeface="Segoe UI"/>
              </a:rPr>
              <a:t>블루베리 펫 스튜디오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25295" y="5788151"/>
            <a:ext cx="17556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5F76"/>
                </a:solidFill>
                <a:latin typeface="Segoe UI"/>
              </a:rPr>
              <a:t>4.9 ★ · 강남구 청담동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6080759"/>
            <a:ext cx="246887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6190488"/>
            <a:ext cx="6172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375DFB"/>
                </a:solidFill>
                <a:latin typeface="Segoe UI"/>
              </a:rPr>
              <a:t>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57300" y="6190488"/>
            <a:ext cx="6172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5F76"/>
                </a:solidFill>
                <a:latin typeface="Segoe UI"/>
              </a:rPr>
              <a:t>검색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74519" y="6190488"/>
            <a:ext cx="6172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5F76"/>
                </a:solidFill>
                <a:latin typeface="Segoe UI"/>
              </a:rPr>
              <a:t>예약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91739" y="6190488"/>
            <a:ext cx="6172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5F76"/>
                </a:solidFill>
                <a:latin typeface="Segoe UI"/>
              </a:rPr>
              <a:t>프로필</a:t>
            </a:r>
          </a:p>
        </p:txBody>
      </p:sp>
      <p:sp>
        <p:nvSpPr>
          <p:cNvPr id="46" name="Oval 45"/>
          <p:cNvSpPr/>
          <p:nvPr/>
        </p:nvSpPr>
        <p:spPr>
          <a:xfrm>
            <a:off x="1764791" y="5925312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47" name="Oval 46"/>
          <p:cNvSpPr/>
          <p:nvPr/>
        </p:nvSpPr>
        <p:spPr>
          <a:xfrm>
            <a:off x="3675887" y="170992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169164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상단 바 · 로그인 상태 분기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1965960"/>
            <a:ext cx="7619695" cy="1502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비로그인 시 로그인/가입 버튼, 로그인 시 사용자 이름과 로그아웃으로 전환됩니다.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0" y="2116182"/>
            <a:ext cx="2816352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>
                <a:solidFill>
                  <a:srgbClr val="5B5F76"/>
                </a:solidFill>
                <a:latin typeface="Segoe UI"/>
              </a:rPr>
              <a:t>Home.jsx getTokenPayload()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0" y="2372214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675887" y="2408790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2390502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히어로 헤드라인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2664822"/>
            <a:ext cx="7619695" cy="3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서비스 핵심 가치 제안. 데스크톱에서는 텍스트·이미지 2컬럼, 모바일은 세로 스택.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0" y="3071077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675887" y="3107653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3089365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히어로 이미지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3363685"/>
            <a:ext cx="7619695" cy="3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반려동물 사진. 데스크톱에서는 평점 배지(4.9/5 등)를 카드로 오버레이합니다.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0" y="3769940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675887" y="3806516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0" y="3788228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주요 CTA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0" y="4062548"/>
            <a:ext cx="7619695" cy="1502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비로그인 시 로그인(02)으로, 로그인 시 예약 플로우(05)로 분기.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0" y="4212771"/>
            <a:ext cx="1911096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>
                <a:solidFill>
                  <a:srgbClr val="5B5F76"/>
                </a:solidFill>
                <a:latin typeface="Segoe UI"/>
              </a:rPr>
              <a:t>현재는 alert() 임시 구현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0" y="4468803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675887" y="4505379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0" y="4487091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서비스 카테고리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0" y="4761411"/>
            <a:ext cx="7619695" cy="3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미용·호텔·데이케어·건강관리 4종. 탭하면 필터된 목록(03)으로 이동.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0" y="5167666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675887" y="5204242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0" y="5185954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추천 펫샵 카드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0" y="5460274"/>
            <a:ext cx="7619695" cy="1502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평점순 노출, 탭하면 상세(04)로 이동. 하드코딩 카드를 API 연동으로 대체.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114800" y="5610497"/>
            <a:ext cx="2916936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>
                <a:solidFill>
                  <a:srgbClr val="5B5F76"/>
                </a:solidFill>
                <a:latin typeface="Segoe UI"/>
              </a:rPr>
              <a:t>GET /api/hotels?sort=rating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0" y="5866529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675887" y="5903105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0" y="5884817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하단 탭바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0" y="6159137"/>
            <a:ext cx="7619695" cy="3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모바일 전용 내비게이션(md:hidden). 데스크톱은 상단 바 메뉴로 대체.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75DFB"/>
                </a:solidFill>
                <a:latin typeface="Segoe UI"/>
              </a:rPr>
              <a:t>02 · 로그인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033"/>
                </a:solidFill>
                <a:latin typeface="Segoe UI"/>
              </a:rPr>
              <a:t>로그인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1556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E7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>
                <a:solidFill>
                  <a:srgbClr val="375DFB"/>
                </a:solidFill>
                <a:latin typeface="Segoe UI"/>
              </a:rPr>
              <a:t>P0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0432" y="1115568"/>
            <a:ext cx="2066543" cy="219456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8A5A00"/>
                </a:solidFill>
                <a:latin typeface="Segoe UI"/>
              </a:rPr>
              <a:t>부분 구현 · Login.jsx 비어있음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44752"/>
            <a:ext cx="11091672" cy="12801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65176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2651760" cy="310896"/>
          </a:xfrm>
          <a:prstGeom prst="roundRect">
            <a:avLst>
              <a:gd name="adj" fmla="val 28000"/>
            </a:avLst>
          </a:prstGeom>
          <a:solidFill>
            <a:srgbClr val="EE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47088"/>
            <a:ext cx="2651760" cy="155448"/>
          </a:xfrm>
          <a:prstGeom prst="rect">
            <a:avLst/>
          </a:prstGeom>
          <a:solidFill>
            <a:srgbClr val="EE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944" y="1805940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1805940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976" y="1805940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276856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C2033"/>
                </a:solidFill>
                <a:latin typeface="Segoe UI"/>
              </a:rPr>
              <a:t>PETITEL</a:t>
            </a:r>
          </a:p>
        </p:txBody>
      </p:sp>
      <p:sp>
        <p:nvSpPr>
          <p:cNvPr id="15" name="Oval 14"/>
          <p:cNvSpPr/>
          <p:nvPr/>
        </p:nvSpPr>
        <p:spPr>
          <a:xfrm>
            <a:off x="1764791" y="2075688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569464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다시 만나 반가워요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2807208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5F76"/>
                </a:solidFill>
                <a:latin typeface="Segoe UI"/>
              </a:rPr>
              <a:t>반려동물과 함께, 안심하고 맡기세요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" y="3172968"/>
            <a:ext cx="23957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172968"/>
            <a:ext cx="14374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B5F76"/>
                </a:solidFill>
                <a:latin typeface="Segoe UI"/>
              </a:rPr>
              <a:t>이메일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044952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" y="3593592"/>
            <a:ext cx="23957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593592"/>
            <a:ext cx="14374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B5F76"/>
                </a:solidFill>
                <a:latin typeface="Segoe UI"/>
              </a:rPr>
              <a:t>비밀번호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3593592"/>
            <a:ext cx="22585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C2033"/>
                </a:solidFill>
                <a:latin typeface="Segoe UI"/>
              </a:rPr>
              <a:t>표시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3465576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" y="4014216"/>
            <a:ext cx="2395728" cy="310896"/>
          </a:xfrm>
          <a:prstGeom prst="roundRect">
            <a:avLst>
              <a:gd name="adj" fmla="val 35000"/>
            </a:avLst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로그인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3886200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4471416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5F76"/>
                </a:solidFill>
                <a:latin typeface="Segoe UI"/>
              </a:rPr>
              <a:t>또는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" y="4745736"/>
            <a:ext cx="2395728" cy="310896"/>
          </a:xfrm>
          <a:prstGeom prst="roundRect">
            <a:avLst>
              <a:gd name="adj" fmla="val 35000"/>
            </a:avLst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191919"/>
                </a:solidFill>
                <a:latin typeface="Segoe UI"/>
              </a:rPr>
              <a:t>카카오로 계속하기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4617720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" y="5202936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5F76"/>
                </a:solidFill>
                <a:latin typeface="Segoe UI"/>
              </a:rPr>
              <a:t>계정이 없으신가요?  회원가입</a:t>
            </a:r>
          </a:p>
        </p:txBody>
      </p:sp>
      <p:sp>
        <p:nvSpPr>
          <p:cNvPr id="31" name="Oval 30"/>
          <p:cNvSpPr/>
          <p:nvPr/>
        </p:nvSpPr>
        <p:spPr>
          <a:xfrm>
            <a:off x="2267711" y="5074920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32" name="Oval 31"/>
          <p:cNvSpPr/>
          <p:nvPr/>
        </p:nvSpPr>
        <p:spPr>
          <a:xfrm>
            <a:off x="3675887" y="170992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169164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워드마크만, 뒤로가기 없음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1965960"/>
            <a:ext cx="7619695" cy="504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첫 진입 화면이므로 상단 바에 back 버튼을 두지 않습니다.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248869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75887" y="252526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250698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이메일 입력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2781300"/>
            <a:ext cx="761969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형식 오류 시 인라인 에러 텍스트(error 색상)를 필드 아래 표시합니다.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0" y="3048000"/>
            <a:ext cx="2313432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>
                <a:solidFill>
                  <a:srgbClr val="5B5F76"/>
                </a:solidFill>
                <a:latin typeface="Segoe UI"/>
              </a:rPr>
              <a:t>Signup.jsx 유효성 로직 재사용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330403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675887" y="334060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332232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비밀번호 입력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3596640"/>
            <a:ext cx="7619695" cy="504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표시/숨기기 토글 아이콘 포함, 8자 이상 안내 문구.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0" y="411937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675887" y="415594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413766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로그인 버튼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4411980"/>
            <a:ext cx="7619695" cy="504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두 입력값이 유효할 때만 Primary 활성, 요청 중 로딩 스피너 표시.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493471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675887" y="4971287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4952999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카카오로 계속하기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5227319"/>
            <a:ext cx="761969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브랜드 컬러(#FEE500) 고정 유지. 클릭 시 백엔드 OAuth2 진입점으로 리다이렉트.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14800" y="5494020"/>
            <a:ext cx="3319272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>
                <a:solidFill>
                  <a:srgbClr val="5B5F76"/>
                </a:solidFill>
                <a:latin typeface="Segoe UI"/>
              </a:rPr>
              <a:t>GET /oauth2/authorization/kakao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0" y="575005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675887" y="578662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0" y="576834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회원가입 이동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6042660"/>
            <a:ext cx="7619695" cy="504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계정이 없는 사용자를 위한 링크, /signup으로 이동.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75DFB"/>
                </a:solidFill>
                <a:latin typeface="Segoe UI"/>
              </a:rPr>
              <a:t>03 · 호텔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033"/>
                </a:solidFill>
                <a:latin typeface="Segoe UI"/>
              </a:rPr>
              <a:t>호텔 목록 · 검색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1556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E7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>
                <a:solidFill>
                  <a:srgbClr val="375DFB"/>
                </a:solidFill>
                <a:latin typeface="Segoe UI"/>
              </a:rPr>
              <a:t>P0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0432" y="1115568"/>
            <a:ext cx="420624" cy="219456"/>
          </a:xfrm>
          <a:prstGeom prst="roundRect">
            <a:avLst>
              <a:gd name="adj" fmla="val 50000"/>
            </a:avLst>
          </a:prstGeom>
          <a:solidFill>
            <a:srgbClr val="D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136C34"/>
                </a:solidFill>
                <a:latin typeface="Segoe UI"/>
              </a:rPr>
              <a:t>신규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44752"/>
            <a:ext cx="11091672" cy="12801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65176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2651760" cy="310896"/>
          </a:xfrm>
          <a:prstGeom prst="roundRect">
            <a:avLst>
              <a:gd name="adj" fmla="val 28000"/>
            </a:avLst>
          </a:prstGeom>
          <a:solidFill>
            <a:srgbClr val="EE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47088"/>
            <a:ext cx="2651760" cy="155448"/>
          </a:xfrm>
          <a:prstGeom prst="rect">
            <a:avLst/>
          </a:prstGeom>
          <a:solidFill>
            <a:srgbClr val="EE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944" y="1805940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1805940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976" y="1805940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2112264"/>
            <a:ext cx="2395728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112264"/>
            <a:ext cx="143743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B5F76"/>
                </a:solidFill>
                <a:latin typeface="Segoe UI"/>
              </a:rPr>
              <a:t>🔍 지역·호텔 이름 검색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1984248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2496312"/>
            <a:ext cx="1362456" cy="237744"/>
          </a:xfrm>
          <a:prstGeom prst="roundRect">
            <a:avLst>
              <a:gd name="adj" fmla="val 50000"/>
            </a:avLst>
          </a:prstGeom>
          <a:solidFill>
            <a:srgbClr val="E7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375DFB"/>
                </a:solidFill>
                <a:latin typeface="Segoe UI"/>
              </a:rPr>
              <a:t>7/10–7/12 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12264" y="2496312"/>
            <a:ext cx="75895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5B5F76"/>
                </a:solidFill>
                <a:latin typeface="Segoe UI"/>
              </a:rPr>
              <a:t>1박 2일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2368296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" y="2807208"/>
            <a:ext cx="758952" cy="237744"/>
          </a:xfrm>
          <a:prstGeom prst="roundRect">
            <a:avLst>
              <a:gd name="adj" fmla="val 50000"/>
            </a:avLst>
          </a:prstGeom>
          <a:solidFill>
            <a:srgbClr val="E7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375DFB"/>
                </a:solidFill>
                <a:latin typeface="Segoe UI"/>
              </a:rPr>
              <a:t>강아지 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08760" y="2807208"/>
            <a:ext cx="557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5B5F76"/>
                </a:solidFill>
                <a:latin typeface="Segoe UI"/>
              </a:rPr>
              <a:t>고양이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39696" y="2807208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5B5F76"/>
                </a:solidFill>
                <a:latin typeface="Segoe UI"/>
              </a:rPr>
              <a:t>기타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2679191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" y="3118103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5B5F76"/>
                </a:solidFill>
                <a:latin typeface="Segoe UI"/>
              </a:rPr>
              <a:t>자율체크인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08176" y="3118103"/>
            <a:ext cx="585216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5B5F76"/>
                </a:solidFill>
                <a:latin typeface="Segoe UI"/>
              </a:rPr>
              <a:t>24시간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48256" y="3118103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5B5F76"/>
                </a:solidFill>
                <a:latin typeface="Segoe UI"/>
              </a:rPr>
              <a:t>미용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05456" y="3118103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5B5F76"/>
                </a:solidFill>
                <a:latin typeface="Segoe UI"/>
              </a:rPr>
              <a:t>픽업</a:t>
            </a:r>
          </a:p>
        </p:txBody>
      </p:sp>
      <p:sp>
        <p:nvSpPr>
          <p:cNvPr id="28" name="Oval 27"/>
          <p:cNvSpPr/>
          <p:nvPr/>
        </p:nvSpPr>
        <p:spPr>
          <a:xfrm>
            <a:off x="2916936" y="2990087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" y="3447287"/>
            <a:ext cx="239572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9808" y="3520439"/>
            <a:ext cx="420623" cy="420623"/>
          </a:xfrm>
          <a:prstGeom prst="roundRect">
            <a:avLst>
              <a:gd name="adj" fmla="val 22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61872" y="3538727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2033"/>
                </a:solidFill>
                <a:latin typeface="Segoe UI"/>
              </a:rPr>
              <a:t>멍냥스테이 강남점 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1872" y="3758183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5F76"/>
                </a:solidFill>
                <a:latin typeface="Segoe UI"/>
              </a:rPr>
              <a:t>4.8 ★ · 리뷰 132 · 1박 45,000원~</a:t>
            </a:r>
          </a:p>
        </p:txBody>
      </p:sp>
      <p:sp>
        <p:nvSpPr>
          <p:cNvPr id="33" name="Oval 32"/>
          <p:cNvSpPr/>
          <p:nvPr/>
        </p:nvSpPr>
        <p:spPr>
          <a:xfrm>
            <a:off x="548640" y="3319271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" y="4087368"/>
            <a:ext cx="239572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9808" y="4160520"/>
            <a:ext cx="420623" cy="420623"/>
          </a:xfrm>
          <a:prstGeom prst="roundRect">
            <a:avLst>
              <a:gd name="adj" fmla="val 22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61872" y="4178807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2033"/>
                </a:solidFill>
                <a:latin typeface="Segoe UI"/>
              </a:rPr>
              <a:t>캣앤독 호텔 성수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61872" y="4398264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5F76"/>
                </a:solidFill>
                <a:latin typeface="Segoe UI"/>
              </a:rPr>
              <a:t>4.6 ★ · 리뷰 88 · 1박 38,000원~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080759"/>
            <a:ext cx="246887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190488"/>
            <a:ext cx="6172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5F76"/>
                </a:solidFill>
                <a:latin typeface="Segoe UI"/>
              </a:rPr>
              <a:t>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57300" y="6190488"/>
            <a:ext cx="6172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375DFB"/>
                </a:solidFill>
                <a:latin typeface="Segoe UI"/>
              </a:rPr>
              <a:t>검색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19" y="6190488"/>
            <a:ext cx="6172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5F76"/>
                </a:solidFill>
                <a:latin typeface="Segoe UI"/>
              </a:rPr>
              <a:t>예약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91739" y="6190488"/>
            <a:ext cx="6172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5F76"/>
                </a:solidFill>
                <a:latin typeface="Segoe UI"/>
              </a:rPr>
              <a:t>프로필</a:t>
            </a:r>
          </a:p>
        </p:txBody>
      </p:sp>
      <p:sp>
        <p:nvSpPr>
          <p:cNvPr id="43" name="Oval 42"/>
          <p:cNvSpPr/>
          <p:nvPr/>
        </p:nvSpPr>
        <p:spPr>
          <a:xfrm>
            <a:off x="1764791" y="5925312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44" name="Oval 43"/>
          <p:cNvSpPr/>
          <p:nvPr/>
        </p:nvSpPr>
        <p:spPr>
          <a:xfrm>
            <a:off x="3675887" y="170992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169164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검색바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1965960"/>
            <a:ext cx="761969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지역명·호텔명 키워드 검색, 탭 시 최근 검색어 노출.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0" y="2232660"/>
            <a:ext cx="2414016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>
                <a:solidFill>
                  <a:srgbClr val="5B5F76"/>
                </a:solidFill>
                <a:latin typeface="Segoe UI"/>
              </a:rPr>
              <a:t>GET /api/hotels?query=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248869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675887" y="252526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250698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날짜 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2781300"/>
            <a:ext cx="7619695" cy="504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체크인~체크아웃 범위 선택, 선택 즉시 목록 재조회.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330403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675887" y="334060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332232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반려동물 종류 필터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0" y="3596640"/>
            <a:ext cx="7619695" cy="504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단일 선택, Pet 등록 정보와 무관하게 검색 조건으로만 사용.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411937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675887" y="415594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413766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시설 필터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0" y="4411980"/>
            <a:ext cx="761969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다중 선택 가로 스크롤 칩.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14800" y="4678680"/>
            <a:ext cx="2715768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>
                <a:solidFill>
                  <a:srgbClr val="5B5F76"/>
                </a:solidFill>
                <a:latin typeface="Segoe UI"/>
              </a:rPr>
              <a:t>HotelFacilityType enum 8종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0" y="493471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675887" y="4971287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0" y="4952999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호텔 카드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5227319"/>
            <a:ext cx="761969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썸네일, 찜 하트(즉시 토글), 평점·리뷰수, 1박 최저가. 탭하면 상세로 이동.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114800" y="5494020"/>
            <a:ext cx="4123944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>
                <a:solidFill>
                  <a:srgbClr val="5B5F76"/>
                </a:solidFill>
                <a:latin typeface="Segoe UI"/>
              </a:rPr>
              <a:t>hotels.rating / review_count, wishlists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0" y="575005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675887" y="578662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0" y="576834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하단 탭바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0" y="6042660"/>
            <a:ext cx="7619695" cy="504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홈·검색·예약·프로필 — 기존 Home.jsx 목업을 실제 라우팅으로 전환.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75DFB"/>
                </a:solidFill>
                <a:latin typeface="Segoe UI"/>
              </a:rPr>
              <a:t>04 · 호텔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033"/>
                </a:solidFill>
                <a:latin typeface="Segoe UI"/>
              </a:rPr>
              <a:t>호텔 상세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1556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E7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>
                <a:solidFill>
                  <a:srgbClr val="375DFB"/>
                </a:solidFill>
                <a:latin typeface="Segoe UI"/>
              </a:rPr>
              <a:t>P0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0432" y="1115568"/>
            <a:ext cx="420624" cy="219456"/>
          </a:xfrm>
          <a:prstGeom prst="roundRect">
            <a:avLst>
              <a:gd name="adj" fmla="val 50000"/>
            </a:avLst>
          </a:prstGeom>
          <a:solidFill>
            <a:srgbClr val="D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136C34"/>
                </a:solidFill>
                <a:latin typeface="Segoe UI"/>
              </a:rPr>
              <a:t>신규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44752"/>
            <a:ext cx="11091672" cy="12801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65176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2651760" cy="310896"/>
          </a:xfrm>
          <a:prstGeom prst="roundRect">
            <a:avLst>
              <a:gd name="adj" fmla="val 28000"/>
            </a:avLst>
          </a:prstGeom>
          <a:solidFill>
            <a:srgbClr val="EE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47088"/>
            <a:ext cx="2651760" cy="155448"/>
          </a:xfrm>
          <a:prstGeom prst="rect">
            <a:avLst/>
          </a:prstGeom>
          <a:solidFill>
            <a:srgbClr val="EE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944" y="1805940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1805940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976" y="1805940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2112264"/>
            <a:ext cx="2395728" cy="1005840"/>
          </a:xfrm>
          <a:prstGeom prst="roundRect">
            <a:avLst>
              <a:gd name="adj" fmla="val 6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2148840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209544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2033"/>
                </a:solidFill>
                <a:latin typeface="Segoe UI"/>
              </a:rPr>
              <a:t>멍냥스테이 강남점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081527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447287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5F76"/>
                </a:solidFill>
                <a:latin typeface="Segoe UI"/>
              </a:rPr>
              <a:t>4.8 ★ · 리뷰 132 · 서울 강남구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3666744"/>
            <a:ext cx="516636" cy="516636"/>
          </a:xfrm>
          <a:prstGeom prst="roundRect">
            <a:avLst>
              <a:gd name="adj" fmla="val 2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4210812"/>
            <a:ext cx="6080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B5F76"/>
                </a:solidFill>
                <a:latin typeface="Segoe UI"/>
              </a:rPr>
              <a:t>자율체크인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03020" y="3666744"/>
            <a:ext cx="516636" cy="516636"/>
          </a:xfrm>
          <a:prstGeom prst="roundRect">
            <a:avLst>
              <a:gd name="adj" fmla="val 2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7300" y="4210812"/>
            <a:ext cx="6080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B5F76"/>
                </a:solidFill>
                <a:latin typeface="Segoe UI"/>
              </a:rPr>
              <a:t>24시간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9384" y="3666744"/>
            <a:ext cx="516636" cy="516636"/>
          </a:xfrm>
          <a:prstGeom prst="roundRect">
            <a:avLst>
              <a:gd name="adj" fmla="val 2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83664" y="4210812"/>
            <a:ext cx="6080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B5F76"/>
                </a:solidFill>
                <a:latin typeface="Segoe UI"/>
              </a:rPr>
              <a:t>미용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55748" y="3666744"/>
            <a:ext cx="516636" cy="516636"/>
          </a:xfrm>
          <a:prstGeom prst="roundRect">
            <a:avLst>
              <a:gd name="adj" fmla="val 2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0028" y="4210812"/>
            <a:ext cx="6080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B5F76"/>
                </a:solidFill>
                <a:latin typeface="Segoe UI"/>
              </a:rPr>
              <a:t>픽업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3502151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233672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2033"/>
                </a:solidFill>
                <a:latin typeface="Segoe UI"/>
              </a:rPr>
              <a:t>객실 선택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4105656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" y="4453128"/>
            <a:ext cx="239572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9808" y="4526280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52144" y="454456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2033"/>
                </a:solidFill>
                <a:latin typeface="Segoe UI"/>
              </a:rPr>
              <a:t>스탠다드룸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" y="4764024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5F76"/>
                </a:solidFill>
                <a:latin typeface="Segoe UI"/>
              </a:rPr>
              <a:t>최대 1마리 · 10kg↓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" y="461772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2033"/>
                </a:solidFill>
                <a:latin typeface="Segoe UI"/>
              </a:rPr>
              <a:t>1박 45,000원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6" y="4965192"/>
            <a:ext cx="239572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9808" y="5038344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2144" y="5056631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2033"/>
                </a:solidFill>
                <a:latin typeface="Segoe UI"/>
              </a:rPr>
              <a:t>디럭스룸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" y="527608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5F76"/>
                </a:solidFill>
                <a:latin typeface="Segoe UI"/>
              </a:rPr>
              <a:t>최대 2마리 · 20kg↓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" y="5129783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2033"/>
                </a:solidFill>
                <a:latin typeface="Segoe UI"/>
              </a:rPr>
              <a:t>1박 68,000원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" y="5532120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2033"/>
                </a:solidFill>
                <a:latin typeface="Segoe UI"/>
              </a:rPr>
              <a:t>리뷰 132</a:t>
            </a:r>
          </a:p>
        </p:txBody>
      </p:sp>
      <p:sp>
        <p:nvSpPr>
          <p:cNvPr id="41" name="Oval 40"/>
          <p:cNvSpPr/>
          <p:nvPr/>
        </p:nvSpPr>
        <p:spPr>
          <a:xfrm>
            <a:off x="548640" y="5404104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" y="5751576"/>
            <a:ext cx="2156155" cy="45720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6656" y="5879592"/>
            <a:ext cx="1437436" cy="45720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7280" y="6126479"/>
            <a:ext cx="2011679" cy="347472"/>
          </a:xfrm>
          <a:prstGeom prst="roundRect">
            <a:avLst>
              <a:gd name="adj" fmla="val 35000"/>
            </a:avLst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예약하기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6126479"/>
            <a:ext cx="384048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53512" y="5971031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47" name="Oval 46"/>
          <p:cNvSpPr/>
          <p:nvPr/>
        </p:nvSpPr>
        <p:spPr>
          <a:xfrm>
            <a:off x="3675887" y="170992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169164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이미지 캐러셀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1965960"/>
            <a:ext cx="7619695" cy="504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room_images 썸네일 스와이프, 상단 오버레이로 뒤로가기·찜 버튼.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0" y="248869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75887" y="252526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250698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호텔 기본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2781300"/>
            <a:ext cx="7619695" cy="504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이름·평점·리뷰수·주소를 한 줄 요약으로.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0" y="330403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675887" y="334060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332232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시설 아이콘 그리드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3596640"/>
            <a:ext cx="761969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보유한 시설만 노출, 8종 초과 시 가로 스크롤.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14800" y="3863340"/>
            <a:ext cx="1911096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>
                <a:solidFill>
                  <a:srgbClr val="5B5F76"/>
                </a:solidFill>
                <a:latin typeface="Segoe UI"/>
              </a:rPr>
              <a:t>HotelFacilityType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0" y="411937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675887" y="415594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0" y="413766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객실 리스트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0" y="4411980"/>
            <a:ext cx="761969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1박/시간당 가격, 최대 인원·체중 표기. 탭하면 예약 화면으로 해당 객실을 들고 이동.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0" y="4678680"/>
            <a:ext cx="5129783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>
                <a:solidFill>
                  <a:srgbClr val="5B5F76"/>
                </a:solidFill>
                <a:latin typeface="Segoe UI"/>
              </a:rPr>
              <a:t>rooms.price_per_night / max_capacity / max_weight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0" y="493471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675887" y="4971287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0" y="4952999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리뷰 요약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0" y="5227319"/>
            <a:ext cx="7619695" cy="504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최근 리뷰 2건 미리보기 + 전체 목록 이동 링크.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0" y="575005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675887" y="578662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0" y="576834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하단 고정 CTA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0" y="6042660"/>
            <a:ext cx="7619695" cy="504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찜 토글(보조) + 예약하기(주 액션), 스크롤 내내 고정.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75DFB"/>
                </a:solidFill>
                <a:latin typeface="Segoe UI"/>
              </a:rPr>
              <a:t>05 · 예약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033"/>
                </a:solidFill>
                <a:latin typeface="Segoe UI"/>
              </a:rPr>
              <a:t>예약 — 객실 · 날짜 · 반려동물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1556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E7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>
                <a:solidFill>
                  <a:srgbClr val="375DFB"/>
                </a:solidFill>
                <a:latin typeface="Segoe UI"/>
              </a:rPr>
              <a:t>P0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0432" y="1115568"/>
            <a:ext cx="420624" cy="219456"/>
          </a:xfrm>
          <a:prstGeom prst="roundRect">
            <a:avLst>
              <a:gd name="adj" fmla="val 50000"/>
            </a:avLst>
          </a:prstGeom>
          <a:solidFill>
            <a:srgbClr val="D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136C34"/>
                </a:solidFill>
                <a:latin typeface="Segoe UI"/>
              </a:rPr>
              <a:t>신규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44752"/>
            <a:ext cx="11091672" cy="12801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65176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2651760" cy="310896"/>
          </a:xfrm>
          <a:prstGeom prst="roundRect">
            <a:avLst>
              <a:gd name="adj" fmla="val 28000"/>
            </a:avLst>
          </a:prstGeom>
          <a:solidFill>
            <a:srgbClr val="EE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47088"/>
            <a:ext cx="2651760" cy="155448"/>
          </a:xfrm>
          <a:prstGeom prst="rect">
            <a:avLst/>
          </a:prstGeom>
          <a:solidFill>
            <a:srgbClr val="EE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944" y="1805940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1805940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976" y="1805940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112264"/>
            <a:ext cx="1197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2033"/>
                </a:solidFill>
                <a:latin typeface="Segoe UI"/>
              </a:rPr>
              <a:t>← 예약하기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94306" y="2112264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E7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375DFB"/>
                </a:solidFill>
                <a:latin typeface="Segoe UI"/>
              </a:rPr>
              <a:t>스탠다드룸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1856231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2441448"/>
            <a:ext cx="2395728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441448"/>
            <a:ext cx="143743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B5F76"/>
                </a:solidFill>
                <a:latin typeface="Segoe UI"/>
              </a:rPr>
              <a:t>체크인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441448"/>
            <a:ext cx="22585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C2033"/>
                </a:solidFill>
                <a:latin typeface="Segoe UI"/>
              </a:rPr>
              <a:t>7/10 15:00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2313432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" y="2788920"/>
            <a:ext cx="2395728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2788920"/>
            <a:ext cx="143743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B5F76"/>
                </a:solidFill>
                <a:latin typeface="Segoe UI"/>
              </a:rPr>
              <a:t>체크아웃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2788920"/>
            <a:ext cx="22585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C2033"/>
                </a:solidFill>
                <a:latin typeface="Segoe UI"/>
              </a:rPr>
              <a:t>7/12 11:00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3191256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2033"/>
                </a:solidFill>
                <a:latin typeface="Segoe UI"/>
              </a:rPr>
              <a:t>함께 갈 반려동물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3063239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" y="3429000"/>
            <a:ext cx="239572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3502152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375DFB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429000"/>
            <a:ext cx="21214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C2033"/>
                </a:solidFill>
                <a:latin typeface="Segoe UI"/>
              </a:rPr>
              <a:t>몽이 · 말티즈 · 3kg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" y="3758184"/>
            <a:ext cx="239572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3831336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3758184"/>
            <a:ext cx="21214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B5F76"/>
                </a:solidFill>
                <a:latin typeface="Segoe UI"/>
              </a:rPr>
              <a:t>두부 · 코숏 · 4kg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" y="4087368"/>
            <a:ext cx="2395728" cy="256032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397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1C2033"/>
                </a:solidFill>
                <a:latin typeface="Segoe UI"/>
              </a:rPr>
              <a:t>+ 반려동물 추가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4434840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2033"/>
                </a:solidFill>
                <a:latin typeface="Segoe UI"/>
              </a:rPr>
              <a:t>요청사항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" y="4306824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6" y="4654296"/>
            <a:ext cx="2395728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709160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B5F76"/>
                </a:solidFill>
                <a:latin typeface="Segoe UI"/>
              </a:rPr>
              <a:t>예: 하루 두 번 산책 부탁드려요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" y="4965192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5129784"/>
            <a:ext cx="14374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5F76"/>
                </a:solidFill>
                <a:latin typeface="Segoe UI"/>
              </a:rPr>
              <a:t>1박 × 2일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34947" y="5129784"/>
            <a:ext cx="14374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5F76"/>
                </a:solidFill>
                <a:latin typeface="Segoe UI"/>
              </a:rPr>
              <a:t>90,000원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" y="5349240"/>
            <a:ext cx="14374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5F76"/>
                </a:solidFill>
                <a:latin typeface="Segoe UI"/>
              </a:rPr>
              <a:t>반려동물 1마리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34947" y="5349240"/>
            <a:ext cx="14374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5F76"/>
                </a:solidFill>
                <a:latin typeface="Segoe UI"/>
              </a:rPr>
              <a:t>추가금 없음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" y="5568696"/>
            <a:ext cx="14374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2033"/>
                </a:solidFill>
                <a:latin typeface="Segoe UI"/>
              </a:rPr>
              <a:t>합계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34947" y="5568696"/>
            <a:ext cx="14374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C2033"/>
                </a:solidFill>
                <a:latin typeface="Segoe UI"/>
              </a:rPr>
              <a:t>90,000원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6126479"/>
            <a:ext cx="2468879" cy="347472"/>
          </a:xfrm>
          <a:prstGeom prst="roundRect">
            <a:avLst>
              <a:gd name="adj" fmla="val 35000"/>
            </a:avLst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예약 확정</a:t>
            </a:r>
          </a:p>
        </p:txBody>
      </p:sp>
      <p:sp>
        <p:nvSpPr>
          <p:cNvPr id="45" name="Oval 44"/>
          <p:cNvSpPr/>
          <p:nvPr/>
        </p:nvSpPr>
        <p:spPr>
          <a:xfrm>
            <a:off x="2953512" y="5971031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46" name="Oval 45"/>
          <p:cNvSpPr/>
          <p:nvPr/>
        </p:nvSpPr>
        <p:spPr>
          <a:xfrm>
            <a:off x="3675887" y="170992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169164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상단 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1965960"/>
            <a:ext cx="7619695" cy="504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뒤로가기 + 선택된 객실 요약 칩으로 어떤 객실을 예약 중인지 항상 표시.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0" y="248869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675887" y="252526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250698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체크인·체크아웃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2781300"/>
            <a:ext cx="761969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날짜와 시간을 함께 선택(반나절 이용도 있으므로 시간 단위 필요).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0" y="3048000"/>
            <a:ext cx="4123944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>
                <a:solidFill>
                  <a:srgbClr val="5B5F76"/>
                </a:solidFill>
                <a:latin typeface="Segoe UI"/>
              </a:rPr>
              <a:t>check_in_date/time, check_out_date/time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0" y="330403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675887" y="334060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332232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반려동물 다중 선택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3596640"/>
            <a:ext cx="761969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등록된 펫 목록에서 체크, "+ 반려동물 추가"로 그 자리에서 신규 등록.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14800" y="3863340"/>
            <a:ext cx="2414016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>
                <a:solidFill>
                  <a:srgbClr val="5B5F76"/>
                </a:solidFill>
                <a:latin typeface="Segoe UI"/>
              </a:rPr>
              <a:t>reservation_pets (N:M)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0" y="411937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675887" y="415594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0" y="413766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요청사항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0" y="4411980"/>
            <a:ext cx="761969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선택 입력, 500자 제한.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0" y="4678680"/>
            <a:ext cx="1810512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>
                <a:solidFill>
                  <a:srgbClr val="5B5F76"/>
                </a:solidFill>
                <a:latin typeface="Segoe UI"/>
              </a:rPr>
              <a:t>special_requests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0" y="493471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675887" y="4971287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0" y="4952999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가격 요약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0" y="5227319"/>
            <a:ext cx="761969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1박 가격 × 박수 계산 과정을 그대로 노출해 신뢰도를 높입니다.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14800" y="5494020"/>
            <a:ext cx="1307592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>
                <a:solidFill>
                  <a:srgbClr val="5B5F76"/>
                </a:solidFill>
                <a:latin typeface="Segoe UI"/>
              </a:rPr>
              <a:t>total_price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0" y="5750052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675887" y="578662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0" y="576834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예약 확정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0" y="6042660"/>
            <a:ext cx="7619695" cy="504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탭 시 상태 PENDING으로 생성, 06번 화면으로 이동.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75DFB"/>
                </a:solidFill>
                <a:latin typeface="Segoe UI"/>
              </a:rPr>
              <a:t>06 · 예약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033"/>
                </a:solidFill>
                <a:latin typeface="Segoe UI"/>
              </a:rPr>
              <a:t>예약 확인 · 완료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1556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E7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>
                <a:solidFill>
                  <a:srgbClr val="375DFB"/>
                </a:solidFill>
                <a:latin typeface="Segoe UI"/>
              </a:rPr>
              <a:t>P0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0432" y="1115568"/>
            <a:ext cx="420624" cy="219456"/>
          </a:xfrm>
          <a:prstGeom prst="roundRect">
            <a:avLst>
              <a:gd name="adj" fmla="val 50000"/>
            </a:avLst>
          </a:prstGeom>
          <a:solidFill>
            <a:srgbClr val="D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136C34"/>
                </a:solidFill>
                <a:latin typeface="Segoe UI"/>
              </a:rPr>
              <a:t>신규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44752"/>
            <a:ext cx="11091672" cy="12801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65176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2651760" cy="310896"/>
          </a:xfrm>
          <a:prstGeom prst="roundRect">
            <a:avLst>
              <a:gd name="adj" fmla="val 28000"/>
            </a:avLst>
          </a:prstGeom>
          <a:solidFill>
            <a:srgbClr val="EE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47088"/>
            <a:ext cx="2651760" cy="155448"/>
          </a:xfrm>
          <a:prstGeom prst="rect">
            <a:avLst/>
          </a:prstGeom>
          <a:solidFill>
            <a:srgbClr val="EE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944" y="1805940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1805940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976" y="1805940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18487" y="2386584"/>
            <a:ext cx="512064" cy="512064"/>
          </a:xfrm>
          <a:prstGeom prst="ellipse">
            <a:avLst/>
          </a:prstGeom>
          <a:solidFill>
            <a:srgbClr val="D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8487" y="2386584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36C34"/>
                </a:solidFill>
                <a:latin typeface="Segoe UI"/>
              </a:rPr>
              <a:t>✓</a:t>
            </a:r>
          </a:p>
        </p:txBody>
      </p:sp>
      <p:sp>
        <p:nvSpPr>
          <p:cNvPr id="16" name="Oval 15"/>
          <p:cNvSpPr/>
          <p:nvPr/>
        </p:nvSpPr>
        <p:spPr>
          <a:xfrm>
            <a:off x="2130551" y="2322575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008376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예약이 완료됐어요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246120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5F76"/>
                </a:solidFill>
                <a:latin typeface="Segoe UI"/>
              </a:rPr>
              <a:t>호텔에서 확정되면 알려드릴게요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3575304"/>
            <a:ext cx="239572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3447288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648456"/>
            <a:ext cx="14374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2033"/>
                </a:solidFill>
                <a:latin typeface="Segoe UI"/>
              </a:rPr>
              <a:t>멍냥스테이 강남점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14092" y="3648456"/>
            <a:ext cx="8385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B5F76"/>
                </a:solidFill>
                <a:latin typeface="Segoe UI"/>
              </a:rPr>
              <a:t>스탠다드룸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" y="3867912"/>
            <a:ext cx="1677009" cy="3657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959352"/>
            <a:ext cx="14374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B5F76"/>
                </a:solidFill>
                <a:latin typeface="Segoe UI"/>
              </a:rPr>
              <a:t>7/10 15:00 – 7/12 11:00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94306" y="3959352"/>
            <a:ext cx="9582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B5F76"/>
                </a:solidFill>
                <a:latin typeface="Segoe UI"/>
              </a:rPr>
              <a:t>몽이 외 0마리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" y="4178808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8A5A00"/>
                </a:solidFill>
                <a:latin typeface="Segoe UI"/>
              </a:rPr>
              <a:t>예약 대기중</a:t>
            </a:r>
          </a:p>
        </p:txBody>
      </p:sp>
      <p:sp>
        <p:nvSpPr>
          <p:cNvPr id="27" name="Oval 26"/>
          <p:cNvSpPr/>
          <p:nvPr/>
        </p:nvSpPr>
        <p:spPr>
          <a:xfrm>
            <a:off x="612648" y="4032504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14092" y="4178808"/>
            <a:ext cx="8385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C2033"/>
                </a:solidFill>
                <a:latin typeface="Segoe UI"/>
              </a:rPr>
              <a:t>90,000원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" y="4608576"/>
            <a:ext cx="2395728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397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1C2033"/>
                </a:solidFill>
                <a:latin typeface="Segoe UI"/>
              </a:rPr>
              <a:t>예약 상세보기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4480560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6" y="4992624"/>
            <a:ext cx="2395728" cy="310896"/>
          </a:xfrm>
          <a:prstGeom prst="roundRect">
            <a:avLst>
              <a:gd name="adj" fmla="val 35000"/>
            </a:avLst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홈으로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33" name="Oval 32"/>
          <p:cNvSpPr/>
          <p:nvPr/>
        </p:nvSpPr>
        <p:spPr>
          <a:xfrm>
            <a:off x="3675887" y="1709928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1691640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성공 아이콘 + 헤드라인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1965960"/>
            <a:ext cx="7619695" cy="6675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확정이 아니라 "요청 접수"임을 문구로 명확히 안내.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2651760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675887" y="2688336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2670048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예약 요약 카드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2944368"/>
            <a:ext cx="7619695" cy="6675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호텔·객실·기간·동반 반려동물·금액을 한 카드에 압축.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3630168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675887" y="3666744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3648456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상태 배지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3922776"/>
            <a:ext cx="7619695" cy="4297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색으로 상태 구분 — 노랑(대기)·초록(확정)·회색(취소) 등 시맨틱 컬러 체계.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0" y="4352544"/>
            <a:ext cx="5230368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>
                <a:solidFill>
                  <a:srgbClr val="5B5F76"/>
                </a:solidFill>
                <a:latin typeface="Segoe UI"/>
              </a:rPr>
              <a:t>PENDING·CONFIRMED·CHECKED_IN·CHECKED_OUT·CANCELLED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0" y="4608576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675887" y="4645151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4626864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예약 상세보기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4901183"/>
            <a:ext cx="7619695" cy="6675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세컨더리 버튼, 예약 내역 화면(P1)으로 이동.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0" y="5586983"/>
            <a:ext cx="8076895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675887" y="5623559"/>
            <a:ext cx="292608" cy="292608"/>
          </a:xfrm>
          <a:prstGeom prst="ellipse">
            <a:avLst/>
          </a:prstGeom>
          <a:solidFill>
            <a:srgbClr val="375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5605271"/>
            <a:ext cx="7619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2033"/>
                </a:solidFill>
                <a:latin typeface="Segoe UI"/>
              </a:rPr>
              <a:t>홈으로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879591"/>
            <a:ext cx="7619695" cy="6675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주 액션. 계속 둘러볼 수 있도록 홈 화면으로 복귀.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75DFB"/>
                </a:solidFill>
                <a:latin typeface="Segoe UI"/>
              </a:rPr>
              <a:t>07 ·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033"/>
                </a:solidFill>
                <a:latin typeface="Segoe UI"/>
              </a:rPr>
              <a:t>다음 단계 (P1 · P2)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11091672" cy="12801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2033"/>
                </a:solidFill>
                <a:latin typeface="Segoe UI"/>
              </a:rPr>
              <a:t>마이페이지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내 정보 조회·수정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32720" y="1874519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>
                <a:solidFill>
                  <a:srgbClr val="5B5F76"/>
                </a:solidFill>
                <a:latin typeface="Segoe UI"/>
              </a:rPr>
              <a:t>P1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22576"/>
            <a:ext cx="11091672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2033"/>
                </a:solidFill>
                <a:latin typeface="Segoe UI"/>
              </a:rPr>
              <a:t>반려동물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등록·수정, 이름·품종·나이·체중·칩 유무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0" y="244144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>
                <a:solidFill>
                  <a:srgbClr val="5B5F76"/>
                </a:solidFill>
                <a:latin typeface="Segoe UI"/>
              </a:rPr>
              <a:t>P1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89504"/>
            <a:ext cx="11091672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62656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2033"/>
                </a:solidFill>
                <a:latin typeface="Segoe UI"/>
              </a:rPr>
              <a:t>예약 내역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36976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상태별 목록, 취소 액션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20" y="3008376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>
                <a:solidFill>
                  <a:srgbClr val="5B5F76"/>
                </a:solidFill>
                <a:latin typeface="Segoe UI"/>
              </a:rPr>
              <a:t>P1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56432"/>
            <a:ext cx="11091672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29584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2033"/>
                </a:solidFill>
                <a:latin typeface="Segoe UI"/>
              </a:rPr>
              <a:t>리뷰 작성 · 목록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03904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이용 완료 예약에 한해 작성 가능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3575304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>
                <a:solidFill>
                  <a:srgbClr val="5B5F76"/>
                </a:solidFill>
                <a:latin typeface="Segoe UI"/>
              </a:rPr>
              <a:t>P2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23360"/>
            <a:ext cx="11091672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96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2033"/>
                </a:solidFill>
                <a:latin typeface="Segoe UI"/>
              </a:rPr>
              <a:t>찜 목록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7083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5F76"/>
                </a:solidFill>
                <a:latin typeface="Segoe UI"/>
              </a:rPr>
              <a:t>찜한 호텔 모아보기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4142232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>
                <a:solidFill>
                  <a:srgbClr val="5B5F76"/>
                </a:solidFill>
                <a:latin typeface="Segoe UI"/>
              </a:rPr>
              <a:t>P2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90288"/>
            <a:ext cx="11091672" cy="10972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5F76"/>
                </a:solidFill>
                <a:latin typeface="Segoe UI"/>
              </a:rPr>
              <a:t>Petitel 화면설계서 · P0 6개 화면 · 색상·타이포는 현재 프론트엔드와 동일한 토큰을 사용했습니다.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